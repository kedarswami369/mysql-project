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8"/>
  </p:notesMasterIdLst>
  <p:sldIdLst>
    <p:sldId id="278" r:id="rId5"/>
    <p:sldId id="290" r:id="rId6"/>
    <p:sldId id="280" r:id="rId7"/>
    <p:sldId id="285" r:id="rId8"/>
    <p:sldId id="289" r:id="rId9"/>
    <p:sldId id="281" r:id="rId10"/>
    <p:sldId id="282" r:id="rId11"/>
    <p:sldId id="284" r:id="rId12"/>
    <p:sldId id="283" r:id="rId13"/>
    <p:sldId id="286" r:id="rId14"/>
    <p:sldId id="287" r:id="rId15"/>
    <p:sldId id="279" r:id="rId16"/>
    <p:sldId id="28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70" d="100"/>
          <a:sy n="70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12/31/2024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12/31/2024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3648"/>
            <a:ext cx="12192001" cy="68579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74861" y="255495"/>
            <a:ext cx="3294528" cy="3402105"/>
          </a:xfrm>
        </p:spPr>
        <p:txBody>
          <a:bodyPr>
            <a:normAutofit/>
          </a:bodyPr>
          <a:lstStyle/>
          <a:p>
            <a:pPr algn="l"/>
            <a:r>
              <a:rPr lang="en-IN" sz="3200" b="0" i="0" dirty="0">
                <a:solidFill>
                  <a:schemeClr val="tx1"/>
                </a:solidFill>
                <a:effectLst/>
                <a:latin typeface="Stencil Std" panose="00000800000000000000" pitchFamily="50" charset="0"/>
              </a:rPr>
              <a:t>Tourist Management System</a:t>
            </a:r>
            <a:endParaRPr lang="en-US" sz="3200" dirty="0">
              <a:solidFill>
                <a:schemeClr val="tx1"/>
              </a:solidFill>
              <a:latin typeface="Stencil Std" panose="00000800000000000000" pitchFamily="50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1302" y="3807835"/>
            <a:ext cx="3485073" cy="746913"/>
          </a:xfrm>
        </p:spPr>
        <p:txBody>
          <a:bodyPr>
            <a:noAutofit/>
          </a:bodyPr>
          <a:lstStyle/>
          <a:p>
            <a:pPr algn="l"/>
            <a:r>
              <a:rPr lang="en-GB" sz="2000" b="0" i="0" dirty="0">
                <a:effectLst/>
                <a:latin typeface="Tekton Pro Cond" panose="020F0606020208020904" pitchFamily="34" charset="0"/>
              </a:rPr>
              <a:t>SQL Queries and Insights from the Tourist Database</a:t>
            </a:r>
          </a:p>
          <a:p>
            <a:pPr algn="l"/>
            <a:r>
              <a:rPr lang="en-US" sz="2000" dirty="0">
                <a:latin typeface="Tekton Pro Cond" panose="020F0606020208020904" pitchFamily="34" charset="0"/>
              </a:rPr>
              <a:t>                                                          - Kedar Swami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1F06B02-8432-4EB6-B443-88E0359AC847}"/>
              </a:ext>
            </a:extLst>
          </p:cNvPr>
          <p:cNvSpPr txBox="1">
            <a:spLocks/>
          </p:cNvSpPr>
          <p:nvPr/>
        </p:nvSpPr>
        <p:spPr>
          <a:xfrm>
            <a:off x="466099" y="485498"/>
            <a:ext cx="4451041" cy="619969"/>
          </a:xfrm>
          <a:prstGeom prst="rect">
            <a:avLst/>
          </a:prstGeom>
          <a:solidFill>
            <a:schemeClr val="bg1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dirty="0">
                <a:solidFill>
                  <a:schemeClr val="tx1"/>
                </a:solidFill>
                <a:effectLst/>
                <a:latin typeface="Stencil" panose="040409050D0802020404" pitchFamily="82" charset="0"/>
              </a:rPr>
              <a:t>SQL Project</a:t>
            </a:r>
            <a:endParaRPr lang="en-IN" sz="3200" dirty="0">
              <a:solidFill>
                <a:schemeClr val="tx1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54E89D-FFD9-4C4A-944C-5E31C96C2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12192001" cy="68579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7293C5-A081-43D8-85CA-74A775D7A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017" y="443552"/>
            <a:ext cx="3767083" cy="668740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br>
              <a:rPr lang="en-GB" b="0" i="0" dirty="0">
                <a:solidFill>
                  <a:srgbClr val="0D0D0D"/>
                </a:solidFill>
                <a:effectLst/>
                <a:latin typeface="ui-sans-serif"/>
              </a:rPr>
            </a:br>
            <a:r>
              <a:rPr lang="en-GB" sz="2700" b="1" i="0" dirty="0">
                <a:solidFill>
                  <a:schemeClr val="tx1"/>
                </a:solidFill>
                <a:effectLst/>
                <a:latin typeface="Stencil" panose="040409050D0802020404" pitchFamily="82" charset="0"/>
              </a:rPr>
              <a:t>Introduction</a:t>
            </a:r>
            <a:br>
              <a:rPr lang="en-GB" b="0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C50EB-E696-4C0D-8ED9-11610E707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5582" y="777922"/>
            <a:ext cx="5827595" cy="5834419"/>
          </a:xfrm>
          <a:solidFill>
            <a:schemeClr val="bg1"/>
          </a:solidFill>
        </p:spPr>
        <p:txBody>
          <a:bodyPr>
            <a:normAutofit fontScale="77500" lnSpcReduction="20000"/>
          </a:bodyPr>
          <a:lstStyle/>
          <a:p>
            <a:r>
              <a:rPr lang="en-GB" b="0" i="0" dirty="0">
                <a:solidFill>
                  <a:schemeClr val="tx1"/>
                </a:solidFill>
                <a:effectLst/>
                <a:latin typeface="Tekton Pro" panose="020F0603020208020904" pitchFamily="34" charset="0"/>
              </a:rPr>
              <a:t>Welcome to this presentation on the "Tourist Management System." This project explores the use of a structured SQL database to efficiently manage and </a:t>
            </a:r>
            <a:r>
              <a:rPr lang="en-GB" b="0" i="0" dirty="0" err="1">
                <a:solidFill>
                  <a:schemeClr val="tx1"/>
                </a:solidFill>
                <a:effectLst/>
                <a:latin typeface="Tekton Pro" panose="020F0603020208020904" pitchFamily="34" charset="0"/>
              </a:rPr>
              <a:t>analyze</a:t>
            </a:r>
            <a:r>
              <a:rPr lang="en-GB" b="0" i="0" dirty="0">
                <a:solidFill>
                  <a:schemeClr val="tx1"/>
                </a:solidFill>
                <a:effectLst/>
                <a:latin typeface="Tekton Pro" panose="020F0603020208020904" pitchFamily="34" charset="0"/>
              </a:rPr>
              <a:t> various aspects of tourism. The system is designed to encompass key elements such as tourist attractions, visitors, accommodations, transportation, events, and more. Through well-defined database relationships and insightful SQL queries, the project offers a comprehensive solution for understanding and optimizing tourist experiences.</a:t>
            </a:r>
          </a:p>
          <a:p>
            <a:pPr algn="l"/>
            <a:r>
              <a:rPr lang="en-GB" b="0" i="0" dirty="0">
                <a:solidFill>
                  <a:schemeClr val="tx1"/>
                </a:solidFill>
                <a:effectLst/>
                <a:latin typeface="Tekton Pro" panose="020F0603020208020904" pitchFamily="34" charset="0"/>
              </a:rPr>
              <a:t>In this presentation, we will delve into: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chemeClr val="tx1"/>
                </a:solidFill>
                <a:effectLst/>
                <a:latin typeface="Tekton Pro" panose="020F0603020208020904" pitchFamily="34" charset="0"/>
              </a:rPr>
              <a:t>The database structure and its key components.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chemeClr val="tx1"/>
                </a:solidFill>
                <a:effectLst/>
                <a:latin typeface="Tekton Pro" panose="020F0603020208020904" pitchFamily="34" charset="0"/>
              </a:rPr>
              <a:t>The relationships between tables, including primary and foreign keys.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chemeClr val="tx1"/>
                </a:solidFill>
                <a:effectLst/>
                <a:latin typeface="Tekton Pro" panose="020F0603020208020904" pitchFamily="34" charset="0"/>
              </a:rPr>
              <a:t>Insights derived from queries, such as top-rated hotels, average event ratings, and visitor reviews.</a:t>
            </a:r>
          </a:p>
          <a:p>
            <a:pPr algn="l"/>
            <a:r>
              <a:rPr lang="en-GB" b="0" i="0" dirty="0">
                <a:solidFill>
                  <a:schemeClr val="tx1"/>
                </a:solidFill>
                <a:effectLst/>
                <a:latin typeface="Tekton Pro" panose="020F0603020208020904" pitchFamily="34" charset="0"/>
              </a:rPr>
              <a:t>By the end, we aim to showcase the system's potential to provide actionable insights for enhancing tourism management.</a:t>
            </a:r>
          </a:p>
        </p:txBody>
      </p:sp>
    </p:spTree>
    <p:extLst>
      <p:ext uri="{BB962C8B-B14F-4D97-AF65-F5344CB8AC3E}">
        <p14:creationId xmlns:p14="http://schemas.microsoft.com/office/powerpoint/2010/main" val="333663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9BCFC8-B983-4D2D-9A4F-57345FF5F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3083"/>
            <a:ext cx="12384741" cy="71463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3B0BA4-5E62-4B04-B1D5-A93A5373E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437" y="335375"/>
            <a:ext cx="4874121" cy="783741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IN" sz="2800" b="0" i="0" dirty="0">
                <a:solidFill>
                  <a:schemeClr val="tx1"/>
                </a:solidFill>
                <a:effectLst/>
                <a:latin typeface="Stencil" panose="040409050D0802020404" pitchFamily="82" charset="0"/>
              </a:rPr>
              <a:t>Database Structure</a:t>
            </a:r>
            <a:endParaRPr lang="en-IN" sz="2800" dirty="0">
              <a:solidFill>
                <a:schemeClr val="tx1"/>
              </a:solidFill>
              <a:latin typeface="Stencil" panose="040409050D0802020404" pitchFamily="82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85D17BF-D1B7-475E-86AC-0400C34DD4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1119116"/>
            <a:ext cx="4874121" cy="557075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tencil Std" panose="00000800000000000000" pitchFamily="50" charset="0"/>
            </a:endParaRPr>
          </a:p>
          <a:p>
            <a:pPr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dirty="0">
                <a:ln>
                  <a:noFill/>
                </a:ln>
                <a:solidFill>
                  <a:schemeClr val="tx1"/>
                </a:solidFill>
                <a:effectLst/>
                <a:latin typeface="Tekton Pro Cond" panose="020F0606020208020904" pitchFamily="34" charset="0"/>
              </a:rPr>
              <a:t> Name : Tourist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kton Pro Cond" panose="020F0606020208020904" pitchFamily="34" charset="0"/>
            </a:endParaRPr>
          </a:p>
          <a:p>
            <a:pPr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ekton Pro" panose="020F0603020208020904" pitchFamily="34" charset="0"/>
              </a:rPr>
              <a:t>List of tables involved:</a:t>
            </a:r>
          </a:p>
          <a:p>
            <a:pPr indent="-34290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kton Pro" panose="020F0603020208020904" pitchFamily="34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tourist_places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no Pro" panose="02020502040506020403" pitchFamily="18" charset="0"/>
            </a:endParaRP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visitors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bookings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reviews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accommodation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transportation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ln>
                  <a:noFill/>
                </a:ln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E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vents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altLang="en-US" sz="2000" dirty="0">
              <a:ln>
                <a:noFill/>
              </a:ln>
              <a:solidFill>
                <a:schemeClr val="tx1"/>
              </a:solidFill>
              <a:effectLst/>
              <a:latin typeface="Arno Pro" panose="02020502040506020403" pitchFamily="18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no Pro" panose="020205020405060204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ln>
                <a:noFill/>
              </a:ln>
              <a:solidFill>
                <a:schemeClr val="tx1"/>
              </a:solidFill>
              <a:effectLst/>
              <a:latin typeface="Arno Pro" panose="020205020405060204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no Pro" panose="020205020405060204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ln>
                <a:noFill/>
              </a:ln>
              <a:solidFill>
                <a:schemeClr val="tx1"/>
              </a:solidFill>
              <a:effectLst/>
              <a:latin typeface="Arno Pro" panose="020205020405060204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ln>
                <a:noFill/>
              </a:ln>
              <a:solidFill>
                <a:schemeClr val="tx1"/>
              </a:solidFill>
              <a:effectLst/>
              <a:latin typeface="Arno Pro" panose="020205020405060204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dirty="0">
              <a:ln>
                <a:noFill/>
              </a:ln>
              <a:solidFill>
                <a:schemeClr val="tx1"/>
              </a:solidFill>
              <a:effectLst/>
              <a:latin typeface="Arno Pro" panose="020205020405060204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no Pro" panose="0202050204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180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039F1D-7EB7-4A1C-A6E1-3C963AE37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34680F-374C-43B9-BE10-9411EC326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729" y="418531"/>
            <a:ext cx="4813886" cy="809768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GB" sz="2800" dirty="0">
                <a:latin typeface="Stencil" panose="040409050D0802020404" pitchFamily="82" charset="0"/>
              </a:rPr>
              <a:t>Table Relationships</a:t>
            </a:r>
            <a:endParaRPr lang="en-IN" sz="2800" dirty="0">
              <a:latin typeface="Stencil" panose="040409050D0802020404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36731-6880-43A3-9CE5-34007EA29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0339" y="1228299"/>
            <a:ext cx="4985983" cy="5349922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GB" sz="2400" dirty="0">
                <a:latin typeface="Tekton Pro" panose="020F0603020208020904" pitchFamily="34" charset="0"/>
              </a:rPr>
              <a:t>Primary keys :-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000" dirty="0">
                <a:latin typeface="Tekton Pro" panose="020F0603020208020904" pitchFamily="34" charset="0"/>
              </a:rPr>
              <a:t> </a:t>
            </a:r>
            <a:r>
              <a:rPr lang="en-GB" sz="2000" dirty="0" err="1">
                <a:latin typeface="Arno Pro" panose="02020502040506020403" pitchFamily="18" charset="0"/>
              </a:rPr>
              <a:t>Tourist_places</a:t>
            </a:r>
            <a:r>
              <a:rPr lang="en-GB" sz="2000" dirty="0">
                <a:latin typeface="Arno Pro" panose="02020502040506020403" pitchFamily="18" charset="0"/>
              </a:rPr>
              <a:t> (</a:t>
            </a:r>
            <a:r>
              <a:rPr lang="en-GB" sz="2000" dirty="0" err="1">
                <a:latin typeface="Arno Pro" panose="02020502040506020403" pitchFamily="18" charset="0"/>
              </a:rPr>
              <a:t>place_id</a:t>
            </a:r>
            <a:r>
              <a:rPr lang="en-GB" sz="2000" dirty="0">
                <a:latin typeface="Arno Pro" panose="02020502040506020403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sz="2000" dirty="0">
                <a:latin typeface="Arno Pro" panose="02020502040506020403" pitchFamily="18" charset="0"/>
              </a:rPr>
              <a:t> Visitors (</a:t>
            </a:r>
            <a:r>
              <a:rPr lang="en-GB" sz="2000" dirty="0" err="1">
                <a:latin typeface="Arno Pro" panose="02020502040506020403" pitchFamily="18" charset="0"/>
              </a:rPr>
              <a:t>visitor_id</a:t>
            </a:r>
            <a:r>
              <a:rPr lang="en-GB" sz="2000" dirty="0">
                <a:latin typeface="Arno Pro" panose="02020502040506020403" pitchFamily="18" charset="0"/>
              </a:rPr>
              <a:t>) </a:t>
            </a:r>
          </a:p>
          <a:p>
            <a:pPr marL="36900" indent="0">
              <a:buNone/>
            </a:pPr>
            <a:endParaRPr lang="en-GB" sz="2000" dirty="0">
              <a:latin typeface="Arno Pro" panose="02020502040506020403" pitchFamily="18" charset="0"/>
            </a:endParaRPr>
          </a:p>
          <a:p>
            <a:r>
              <a:rPr lang="en-GB" sz="2400" dirty="0">
                <a:latin typeface="Arno Pro" panose="02020502040506020403" pitchFamily="18" charset="0"/>
              </a:rPr>
              <a:t>  </a:t>
            </a:r>
            <a:r>
              <a:rPr lang="en-GB" sz="2400" dirty="0">
                <a:latin typeface="Tekton Pro" panose="020F0603020208020904" pitchFamily="34" charset="0"/>
              </a:rPr>
              <a:t>Foreign keys :-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Arno Pro" panose="02020502040506020403" pitchFamily="18" charset="0"/>
              </a:rPr>
              <a:t>Bookings (</a:t>
            </a:r>
            <a:r>
              <a:rPr lang="en-IN" sz="2000" dirty="0" err="1">
                <a:latin typeface="Arno Pro" panose="02020502040506020403" pitchFamily="18" charset="0"/>
              </a:rPr>
              <a:t>visitor_id</a:t>
            </a:r>
            <a:r>
              <a:rPr lang="en-IN" sz="2000" dirty="0">
                <a:latin typeface="Arno Pro" panose="02020502040506020403" pitchFamily="18" charset="0"/>
              </a:rPr>
              <a:t>, </a:t>
            </a:r>
            <a:r>
              <a:rPr lang="en-IN" sz="2000" dirty="0" err="1">
                <a:latin typeface="Arno Pro" panose="02020502040506020403" pitchFamily="18" charset="0"/>
              </a:rPr>
              <a:t>Place_id</a:t>
            </a:r>
            <a:r>
              <a:rPr lang="en-IN" sz="2000" dirty="0">
                <a:latin typeface="Arno Pro" panose="02020502040506020403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Arno Pro" panose="02020502040506020403" pitchFamily="18" charset="0"/>
              </a:rPr>
              <a:t>Reviews (</a:t>
            </a:r>
            <a:r>
              <a:rPr lang="en-IN" sz="2000" dirty="0" err="1">
                <a:latin typeface="Arno Pro" panose="02020502040506020403" pitchFamily="18" charset="0"/>
              </a:rPr>
              <a:t>visitor_id</a:t>
            </a:r>
            <a:r>
              <a:rPr lang="en-IN" sz="2000" dirty="0">
                <a:latin typeface="Arno Pro" panose="02020502040506020403" pitchFamily="18" charset="0"/>
              </a:rPr>
              <a:t>, </a:t>
            </a:r>
            <a:r>
              <a:rPr lang="en-IN" sz="2000" dirty="0" err="1">
                <a:latin typeface="Arno Pro" panose="02020502040506020403" pitchFamily="18" charset="0"/>
              </a:rPr>
              <a:t>Place_id</a:t>
            </a:r>
            <a:r>
              <a:rPr lang="en-IN" sz="2000" dirty="0">
                <a:latin typeface="Arno Pro" panose="02020502040506020403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Arno Pro" panose="02020502040506020403" pitchFamily="18" charset="0"/>
              </a:rPr>
              <a:t>Events (</a:t>
            </a:r>
            <a:r>
              <a:rPr lang="en-IN" sz="2000" dirty="0" err="1">
                <a:latin typeface="Arno Pro" panose="02020502040506020403" pitchFamily="18" charset="0"/>
              </a:rPr>
              <a:t>Place_id</a:t>
            </a:r>
            <a:r>
              <a:rPr lang="en-IN" sz="2000" dirty="0">
                <a:latin typeface="Arno Pro" panose="02020502040506020403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Arno Pro" panose="02020502040506020403" pitchFamily="18" charset="0"/>
              </a:rPr>
              <a:t>Accommodation (</a:t>
            </a:r>
            <a:r>
              <a:rPr lang="en-IN" sz="2000" dirty="0" err="1">
                <a:latin typeface="Arno Pro" panose="02020502040506020403" pitchFamily="18" charset="0"/>
              </a:rPr>
              <a:t>Place_id</a:t>
            </a:r>
            <a:r>
              <a:rPr lang="en-IN" sz="2000" dirty="0">
                <a:latin typeface="Arno Pro" panose="02020502040506020403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Arno Pro" panose="02020502040506020403" pitchFamily="18" charset="0"/>
              </a:rPr>
              <a:t>Transportation (</a:t>
            </a:r>
            <a:r>
              <a:rPr lang="en-IN" sz="2000" dirty="0" err="1">
                <a:latin typeface="Arno Pro" panose="02020502040506020403" pitchFamily="18" charset="0"/>
              </a:rPr>
              <a:t>Place_id</a:t>
            </a:r>
            <a:r>
              <a:rPr lang="en-IN" sz="2000" dirty="0">
                <a:latin typeface="Arno Pro" panose="02020502040506020403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>
              <a:latin typeface="Arno Pro" panose="02020502040506020403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IN" sz="2000" dirty="0">
              <a:latin typeface="Arno Pro" panose="02020502040506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89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C27CEE-4A30-49D4-B500-B3020C586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7196"/>
            <a:ext cx="12192001" cy="68579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F6C531-C773-40A7-AB0B-CC5FA2D97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126" y="172870"/>
            <a:ext cx="4080681" cy="714235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GB" sz="2800" dirty="0">
                <a:solidFill>
                  <a:schemeClr val="tx1"/>
                </a:solidFill>
                <a:latin typeface="Stencil" panose="040409050D0802020404" pitchFamily="82" charset="0"/>
              </a:rPr>
              <a:t>E–R Diagram :-  </a:t>
            </a:r>
            <a:endParaRPr lang="en-IN" sz="2800" dirty="0">
              <a:solidFill>
                <a:schemeClr val="tx1"/>
              </a:solidFill>
              <a:latin typeface="Stencil" panose="040409050D0802020404" pitchFamily="8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62984AA-8B30-4B12-9615-25FC916D21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80932" y="172871"/>
            <a:ext cx="7278662" cy="6436956"/>
          </a:xfr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419008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6E4DD1D-1B81-4026-8F25-65C0FBC8F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3A80CD-6823-4A9D-8AAC-C8793B2D2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E87D12C-978B-4A0B-9EC8-DE51A05B8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0579" y="873458"/>
            <a:ext cx="5233982" cy="566382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36900" indent="0">
              <a:buNone/>
            </a:pPr>
            <a:endParaRPr lang="en-GB" sz="2200" b="0" i="0" dirty="0">
              <a:solidFill>
                <a:srgbClr val="7030A0"/>
              </a:solidFill>
              <a:effectLst/>
              <a:latin typeface="Arno Pro" panose="02020502040506020403" pitchFamily="18" charset="0"/>
            </a:endParaRPr>
          </a:p>
          <a:p>
            <a:pPr marL="36900" indent="0">
              <a:buNone/>
            </a:pPr>
            <a:r>
              <a:rPr lang="en-GB" sz="2200" b="0" i="0" dirty="0">
                <a:solidFill>
                  <a:srgbClr val="7030A0"/>
                </a:solidFill>
                <a:effectLst/>
                <a:latin typeface="Arno Pro" panose="02020502040506020403" pitchFamily="18" charset="0"/>
              </a:rPr>
              <a:t>SELECT</a:t>
            </a:r>
            <a:r>
              <a:rPr lang="en-GB" sz="2200" b="0" i="0" dirty="0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 </a:t>
            </a:r>
            <a:r>
              <a:rPr lang="en-GB" sz="2200" b="0" i="0" dirty="0" err="1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hotel_name</a:t>
            </a:r>
            <a:r>
              <a:rPr lang="en-GB" sz="2200" b="0" i="0" dirty="0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, rating, </a:t>
            </a:r>
            <a:r>
              <a:rPr lang="en-GB" sz="2200" b="0" i="0" dirty="0" err="1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price_per_night</a:t>
            </a:r>
            <a:endParaRPr lang="en-GB" sz="2200" b="0" i="0" dirty="0">
              <a:solidFill>
                <a:schemeClr val="tx1"/>
              </a:solidFill>
              <a:effectLst/>
              <a:latin typeface="Arno Pro" panose="02020502040506020403" pitchFamily="18" charset="0"/>
            </a:endParaRPr>
          </a:p>
          <a:p>
            <a:pPr marL="36900" indent="0">
              <a:buNone/>
            </a:pPr>
            <a:r>
              <a:rPr lang="en-GB" sz="2200" b="0" i="0" dirty="0">
                <a:solidFill>
                  <a:srgbClr val="7030A0"/>
                </a:solidFill>
                <a:effectLst/>
                <a:latin typeface="Arno Pro" panose="02020502040506020403" pitchFamily="18" charset="0"/>
              </a:rPr>
              <a:t>FROM</a:t>
            </a:r>
            <a:r>
              <a:rPr lang="en-GB" sz="2200" b="0" i="0" dirty="0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 Accommodation </a:t>
            </a:r>
          </a:p>
          <a:p>
            <a:pPr marL="36900" indent="0">
              <a:buNone/>
            </a:pPr>
            <a:r>
              <a:rPr lang="en-GB" sz="2200" b="0" i="0" dirty="0">
                <a:solidFill>
                  <a:srgbClr val="7030A0"/>
                </a:solidFill>
                <a:effectLst/>
                <a:latin typeface="Arno Pro" panose="02020502040506020403" pitchFamily="18" charset="0"/>
              </a:rPr>
              <a:t>WHERE</a:t>
            </a:r>
            <a:r>
              <a:rPr lang="en-GB" sz="2200" b="0" i="0" dirty="0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 </a:t>
            </a:r>
            <a:r>
              <a:rPr lang="en-GB" sz="2200" b="0" i="0" dirty="0" err="1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place_id</a:t>
            </a:r>
            <a:r>
              <a:rPr lang="en-GB" sz="2200" b="0" i="0" dirty="0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 = 1 </a:t>
            </a:r>
            <a:r>
              <a:rPr lang="en-GB" sz="2200" b="0" i="0" dirty="0">
                <a:solidFill>
                  <a:srgbClr val="7030A0"/>
                </a:solidFill>
                <a:effectLst/>
                <a:latin typeface="Arno Pro" panose="02020502040506020403" pitchFamily="18" charset="0"/>
              </a:rPr>
              <a:t>ORDER BY </a:t>
            </a:r>
            <a:r>
              <a:rPr lang="en-GB" sz="2200" b="0" i="0" dirty="0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rating </a:t>
            </a:r>
            <a:r>
              <a:rPr lang="en-GB" sz="2200" b="0" i="0" dirty="0">
                <a:solidFill>
                  <a:srgbClr val="7030A0"/>
                </a:solidFill>
                <a:effectLst/>
                <a:latin typeface="Arno Pro" panose="02020502040506020403" pitchFamily="18" charset="0"/>
              </a:rPr>
              <a:t>DESC </a:t>
            </a:r>
          </a:p>
          <a:p>
            <a:pPr marL="36900" indent="0">
              <a:buNone/>
            </a:pPr>
            <a:r>
              <a:rPr lang="en-GB" sz="2200" b="0" i="0" dirty="0">
                <a:solidFill>
                  <a:srgbClr val="7030A0"/>
                </a:solidFill>
                <a:effectLst/>
                <a:latin typeface="Arno Pro" panose="02020502040506020403" pitchFamily="18" charset="0"/>
              </a:rPr>
              <a:t>LIMIT</a:t>
            </a:r>
            <a:r>
              <a:rPr lang="en-GB" sz="2200" b="0" i="0" dirty="0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 5;</a:t>
            </a:r>
            <a:endParaRPr lang="en-GB" sz="2200" dirty="0">
              <a:solidFill>
                <a:schemeClr val="tx1"/>
              </a:solidFill>
              <a:effectLst/>
              <a:latin typeface="Arno Pro" panose="02020502040506020403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48278C-3DD8-4BFF-A304-265D90D62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944" y="3841422"/>
            <a:ext cx="4007251" cy="214312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88109E5-5827-4E7D-86D8-761EC9C68846}"/>
              </a:ext>
            </a:extLst>
          </p:cNvPr>
          <p:cNvSpPr txBox="1">
            <a:spLocks/>
          </p:cNvSpPr>
          <p:nvPr/>
        </p:nvSpPr>
        <p:spPr>
          <a:xfrm>
            <a:off x="257438" y="335376"/>
            <a:ext cx="4756784" cy="538082"/>
          </a:xfrm>
          <a:prstGeom prst="rect">
            <a:avLst/>
          </a:prstGeom>
          <a:solidFill>
            <a:schemeClr val="bg1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400" b="0" i="0" dirty="0">
                <a:solidFill>
                  <a:schemeClr val="tx1"/>
                </a:solidFill>
                <a:effectLst/>
                <a:latin typeface="Tekton Pro" panose="020F0603020208020904" pitchFamily="34" charset="0"/>
              </a:rPr>
              <a:t>Top 5 Hotels with Highest Rating.</a:t>
            </a:r>
          </a:p>
        </p:txBody>
      </p:sp>
    </p:spTree>
    <p:extLst>
      <p:ext uri="{BB962C8B-B14F-4D97-AF65-F5344CB8AC3E}">
        <p14:creationId xmlns:p14="http://schemas.microsoft.com/office/powerpoint/2010/main" val="3576076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6CA98-FA47-466B-B8C5-921468DE4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3AE658-7EF5-4911-BFF3-C68E1D89D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B1DB8-5F2B-44DF-A209-E578A4553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2794" y="848433"/>
            <a:ext cx="5171557" cy="5717277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36900" indent="0">
              <a:buNone/>
            </a:pPr>
            <a:endParaRPr lang="en-GB" sz="2800" b="0" i="0" dirty="0">
              <a:solidFill>
                <a:schemeClr val="tx1"/>
              </a:solidFill>
              <a:effectLst/>
              <a:latin typeface="Tekton Pro Cond" panose="020F0606020208020904" pitchFamily="34" charset="0"/>
            </a:endParaRPr>
          </a:p>
          <a:p>
            <a:pPr marL="36900" indent="0">
              <a:buNone/>
            </a:pPr>
            <a:r>
              <a:rPr lang="en-GB" sz="2200" dirty="0">
                <a:solidFill>
                  <a:srgbClr val="7030A0"/>
                </a:solidFill>
                <a:effectLst/>
                <a:latin typeface="Arno Pro" panose="02020502040506020403" pitchFamily="18" charset="0"/>
              </a:rPr>
              <a:t>SELECT</a:t>
            </a:r>
            <a:r>
              <a:rPr lang="en-GB" sz="2200" dirty="0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 AVG(rating) AS </a:t>
            </a:r>
            <a:r>
              <a:rPr lang="en-GB" sz="2200" dirty="0" err="1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avg_rating</a:t>
            </a:r>
            <a:endParaRPr lang="en-GB" sz="2200" dirty="0">
              <a:solidFill>
                <a:schemeClr val="tx1"/>
              </a:solidFill>
              <a:effectLst/>
              <a:latin typeface="Arno Pro" panose="02020502040506020403" pitchFamily="18" charset="0"/>
            </a:endParaRPr>
          </a:p>
          <a:p>
            <a:pPr marL="36900" indent="0">
              <a:buNone/>
            </a:pPr>
            <a:r>
              <a:rPr lang="en-GB" sz="2200" dirty="0">
                <a:solidFill>
                  <a:srgbClr val="7030A0"/>
                </a:solidFill>
                <a:effectLst/>
                <a:latin typeface="Arno Pro" panose="02020502040506020403" pitchFamily="18" charset="0"/>
              </a:rPr>
              <a:t>FROM</a:t>
            </a:r>
            <a:r>
              <a:rPr lang="en-GB" sz="2200" dirty="0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 Reviews </a:t>
            </a:r>
          </a:p>
          <a:p>
            <a:pPr marL="36900" indent="0">
              <a:buNone/>
            </a:pPr>
            <a:r>
              <a:rPr lang="en-GB" sz="2200" dirty="0">
                <a:solidFill>
                  <a:srgbClr val="7030A0"/>
                </a:solidFill>
                <a:effectLst/>
                <a:latin typeface="Arno Pro" panose="02020502040506020403" pitchFamily="18" charset="0"/>
              </a:rPr>
              <a:t>WHERE</a:t>
            </a:r>
            <a:r>
              <a:rPr lang="en-GB" sz="2200" dirty="0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 </a:t>
            </a:r>
            <a:r>
              <a:rPr lang="en-GB" sz="2200" dirty="0" err="1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place_id</a:t>
            </a:r>
            <a:r>
              <a:rPr lang="en-GB" sz="2200" dirty="0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 = 1;</a:t>
            </a:r>
          </a:p>
          <a:p>
            <a:pPr marL="36900" indent="0">
              <a:buNone/>
            </a:pPr>
            <a:endParaRPr lang="en-IN" sz="2800" dirty="0">
              <a:solidFill>
                <a:schemeClr val="tx1"/>
              </a:solidFill>
              <a:effectLst/>
              <a:latin typeface="Tekton Pro Cond" panose="020F06060202080209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D68941-FCBC-47D8-9588-D5BCC0482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027" y="3707071"/>
            <a:ext cx="3370997" cy="206962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7B412DA-A173-44A6-8B5F-3B6C4F6F8022}"/>
              </a:ext>
            </a:extLst>
          </p:cNvPr>
          <p:cNvSpPr txBox="1">
            <a:spLocks/>
          </p:cNvSpPr>
          <p:nvPr/>
        </p:nvSpPr>
        <p:spPr>
          <a:xfrm>
            <a:off x="257438" y="335376"/>
            <a:ext cx="4692150" cy="538082"/>
          </a:xfrm>
          <a:prstGeom prst="rect">
            <a:avLst/>
          </a:prstGeom>
          <a:solidFill>
            <a:schemeClr val="bg1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800" dirty="0">
                <a:solidFill>
                  <a:schemeClr val="tx1"/>
                </a:solidFill>
                <a:effectLst/>
                <a:latin typeface="Tekton Pro Cond" panose="020F0606020208020904" pitchFamily="34" charset="0"/>
              </a:rPr>
              <a:t>Average rating</a:t>
            </a:r>
            <a:r>
              <a:rPr lang="en-GB" sz="2800" b="0" i="0" dirty="0">
                <a:solidFill>
                  <a:schemeClr val="tx1"/>
                </a:solidFill>
                <a:effectLst/>
                <a:latin typeface="Tekton Pro Cond" panose="020F0606020208020904" pitchFamily="34" charset="0"/>
              </a:rPr>
              <a:t> for a Specific Event.</a:t>
            </a:r>
          </a:p>
        </p:txBody>
      </p:sp>
    </p:spTree>
    <p:extLst>
      <p:ext uri="{BB962C8B-B14F-4D97-AF65-F5344CB8AC3E}">
        <p14:creationId xmlns:p14="http://schemas.microsoft.com/office/powerpoint/2010/main" val="3138126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4CAB2B-48ED-4963-84C6-404E7A9BD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0"/>
            <a:ext cx="12192001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B1DB8-5F2B-44DF-A209-E578A4553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2226" y="869564"/>
            <a:ext cx="5171557" cy="5655991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36900" indent="0">
              <a:buNone/>
            </a:pPr>
            <a:endParaRPr lang="en-GB" sz="2000" dirty="0">
              <a:solidFill>
                <a:schemeClr val="tx1"/>
              </a:solidFill>
              <a:effectLst/>
              <a:latin typeface="Tekton Pro" panose="020F0603020208020904" pitchFamily="34" charset="0"/>
            </a:endParaRPr>
          </a:p>
          <a:p>
            <a:pPr marL="36900" indent="0">
              <a:buNone/>
            </a:pPr>
            <a:r>
              <a:rPr lang="en-GB" sz="2000" dirty="0">
                <a:solidFill>
                  <a:srgbClr val="7030A0"/>
                </a:solidFill>
                <a:latin typeface="Tekton Pro" panose="020F0603020208020904" pitchFamily="34" charset="0"/>
              </a:rPr>
              <a:t>SELECT</a:t>
            </a:r>
            <a:r>
              <a:rPr lang="en-GB" sz="2000" dirty="0">
                <a:solidFill>
                  <a:schemeClr val="tx1"/>
                </a:solidFill>
                <a:latin typeface="Tekton Pro" panose="020F0603020208020904" pitchFamily="34" charset="0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Tekton Pro" panose="020F0603020208020904" pitchFamily="34" charset="0"/>
              </a:rPr>
              <a:t>hotel_name</a:t>
            </a:r>
            <a:r>
              <a:rPr lang="en-GB" sz="2000" dirty="0">
                <a:solidFill>
                  <a:schemeClr val="tx1"/>
                </a:solidFill>
                <a:latin typeface="Tekton Pro" panose="020F0603020208020904" pitchFamily="34" charset="0"/>
              </a:rPr>
              <a:t>, </a:t>
            </a:r>
            <a:r>
              <a:rPr lang="en-GB" sz="2000" dirty="0" err="1">
                <a:solidFill>
                  <a:schemeClr val="tx1"/>
                </a:solidFill>
                <a:latin typeface="Tekton Pro" panose="020F0603020208020904" pitchFamily="34" charset="0"/>
              </a:rPr>
              <a:t>price_per_night</a:t>
            </a:r>
            <a:endParaRPr lang="en-GB" sz="2000" dirty="0">
              <a:solidFill>
                <a:schemeClr val="tx1"/>
              </a:solidFill>
              <a:latin typeface="Tekton Pro" panose="020F0603020208020904" pitchFamily="34" charset="0"/>
            </a:endParaRPr>
          </a:p>
          <a:p>
            <a:pPr marL="36900" indent="0">
              <a:buNone/>
            </a:pPr>
            <a:r>
              <a:rPr lang="en-GB" sz="2000" dirty="0">
                <a:solidFill>
                  <a:srgbClr val="7030A0"/>
                </a:solidFill>
                <a:latin typeface="Tekton Pro" panose="020F0603020208020904" pitchFamily="34" charset="0"/>
              </a:rPr>
              <a:t>FROM</a:t>
            </a:r>
            <a:r>
              <a:rPr lang="en-GB" sz="2000" dirty="0">
                <a:solidFill>
                  <a:schemeClr val="tx1"/>
                </a:solidFill>
                <a:latin typeface="Tekton Pro" panose="020F0603020208020904" pitchFamily="34" charset="0"/>
              </a:rPr>
              <a:t> Accommodation</a:t>
            </a:r>
          </a:p>
          <a:p>
            <a:pPr marL="36900" indent="0">
              <a:buNone/>
            </a:pPr>
            <a:r>
              <a:rPr lang="en-GB" sz="2000" dirty="0">
                <a:solidFill>
                  <a:srgbClr val="7030A0"/>
                </a:solidFill>
                <a:latin typeface="Tekton Pro" panose="020F0603020208020904" pitchFamily="34" charset="0"/>
              </a:rPr>
              <a:t>ORDER BY </a:t>
            </a:r>
            <a:r>
              <a:rPr lang="en-GB" sz="2000" dirty="0" err="1">
                <a:solidFill>
                  <a:schemeClr val="tx1"/>
                </a:solidFill>
                <a:latin typeface="Tekton Pro" panose="020F0603020208020904" pitchFamily="34" charset="0"/>
              </a:rPr>
              <a:t>price_per_night</a:t>
            </a:r>
            <a:r>
              <a:rPr lang="en-GB" sz="2000" dirty="0">
                <a:solidFill>
                  <a:srgbClr val="7030A0"/>
                </a:solidFill>
                <a:latin typeface="Tekton Pro" panose="020F0603020208020904" pitchFamily="34" charset="0"/>
              </a:rPr>
              <a:t> DESC</a:t>
            </a:r>
          </a:p>
          <a:p>
            <a:pPr marL="36900" indent="0">
              <a:buNone/>
            </a:pPr>
            <a:r>
              <a:rPr lang="en-GB" sz="2000" dirty="0">
                <a:solidFill>
                  <a:srgbClr val="7030A0"/>
                </a:solidFill>
                <a:latin typeface="Tekton Pro" panose="020F0603020208020904" pitchFamily="34" charset="0"/>
              </a:rPr>
              <a:t>LIMIT</a:t>
            </a:r>
            <a:r>
              <a:rPr lang="en-GB" sz="2000" dirty="0">
                <a:solidFill>
                  <a:schemeClr val="tx1"/>
                </a:solidFill>
                <a:latin typeface="Tekton Pro" panose="020F0603020208020904" pitchFamily="34" charset="0"/>
              </a:rPr>
              <a:t> 3;</a:t>
            </a:r>
          </a:p>
          <a:p>
            <a:endParaRPr lang="en-IN" sz="2000" dirty="0">
              <a:solidFill>
                <a:schemeClr val="tx1"/>
              </a:solidFill>
              <a:latin typeface="Tekton Pro" panose="020F06030202080209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1E5225-CD89-4814-9367-567E30249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504" y="3697559"/>
            <a:ext cx="4067033" cy="183903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5A199C8-E9B8-49B3-873A-A0196E9DD98D}"/>
              </a:ext>
            </a:extLst>
          </p:cNvPr>
          <p:cNvSpPr txBox="1">
            <a:spLocks/>
          </p:cNvSpPr>
          <p:nvPr/>
        </p:nvSpPr>
        <p:spPr>
          <a:xfrm>
            <a:off x="257437" y="335376"/>
            <a:ext cx="5310849" cy="538082"/>
          </a:xfrm>
          <a:prstGeom prst="rect">
            <a:avLst/>
          </a:prstGeom>
          <a:solidFill>
            <a:schemeClr val="bg1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400" b="0" i="0" dirty="0">
                <a:solidFill>
                  <a:schemeClr val="tx1"/>
                </a:solidFill>
                <a:effectLst/>
                <a:latin typeface="Tekton Pro" panose="020F0603020208020904" pitchFamily="34" charset="0"/>
              </a:rPr>
              <a:t>Top 3 Most Expensive Accommodations</a:t>
            </a:r>
          </a:p>
        </p:txBody>
      </p:sp>
    </p:spTree>
    <p:extLst>
      <p:ext uri="{BB962C8B-B14F-4D97-AF65-F5344CB8AC3E}">
        <p14:creationId xmlns:p14="http://schemas.microsoft.com/office/powerpoint/2010/main" val="1108063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6CA98-FA47-466B-B8C5-921468DE4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FCFEF9-B19E-46EC-A0DA-A58EBDDC9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325" y="10"/>
            <a:ext cx="12192001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B1DB8-5F2B-44DF-A209-E578A4553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8324" y="860444"/>
            <a:ext cx="5062715" cy="5772368"/>
          </a:xfrm>
          <a:solidFill>
            <a:schemeClr val="bg1"/>
          </a:solidFill>
        </p:spPr>
        <p:txBody>
          <a:bodyPr/>
          <a:lstStyle/>
          <a:p>
            <a:pPr marL="36900" indent="0">
              <a:buNone/>
            </a:pPr>
            <a:endParaRPr lang="en-IN" dirty="0"/>
          </a:p>
          <a:p>
            <a:pPr marL="36900" indent="0">
              <a:buNone/>
            </a:pPr>
            <a:r>
              <a:rPr lang="en-GB" sz="2000" dirty="0">
                <a:solidFill>
                  <a:srgbClr val="7030A0"/>
                </a:solidFill>
              </a:rPr>
              <a:t>SELECT</a:t>
            </a:r>
            <a:r>
              <a:rPr lang="en-GB" sz="2000" dirty="0"/>
              <a:t> </a:t>
            </a:r>
            <a:r>
              <a:rPr lang="en-GB" sz="2000" dirty="0" err="1"/>
              <a:t>place_name</a:t>
            </a:r>
            <a:endParaRPr lang="en-GB" sz="2000" dirty="0"/>
          </a:p>
          <a:p>
            <a:pPr marL="36900" indent="0">
              <a:buNone/>
            </a:pPr>
            <a:r>
              <a:rPr lang="en-GB" sz="2000" dirty="0">
                <a:solidFill>
                  <a:srgbClr val="7030A0"/>
                </a:solidFill>
              </a:rPr>
              <a:t>FROM </a:t>
            </a:r>
            <a:r>
              <a:rPr lang="en-GB" sz="2000" dirty="0" err="1"/>
              <a:t>Tourist_places</a:t>
            </a:r>
            <a:endParaRPr lang="en-GB" sz="2000" dirty="0"/>
          </a:p>
          <a:p>
            <a:pPr marL="36900" indent="0">
              <a:buNone/>
            </a:pPr>
            <a:r>
              <a:rPr lang="en-GB" sz="2000" dirty="0">
                <a:solidFill>
                  <a:srgbClr val="7030A0"/>
                </a:solidFill>
              </a:rPr>
              <a:t>WHERE</a:t>
            </a:r>
            <a:r>
              <a:rPr lang="en-GB" sz="2000" dirty="0"/>
              <a:t> </a:t>
            </a:r>
            <a:r>
              <a:rPr lang="en-GB" sz="2000" dirty="0" err="1"/>
              <a:t>entry_fee</a:t>
            </a:r>
            <a:r>
              <a:rPr lang="en-GB" sz="2000" dirty="0"/>
              <a:t> &gt;= 100;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0E8DDD-4610-4D1D-963B-ECE43AA18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861" y="3429000"/>
            <a:ext cx="3640017" cy="237698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5AF4633-DDF7-4BA4-90D1-DB81B28A9395}"/>
              </a:ext>
            </a:extLst>
          </p:cNvPr>
          <p:cNvSpPr txBox="1">
            <a:spLocks/>
          </p:cNvSpPr>
          <p:nvPr/>
        </p:nvSpPr>
        <p:spPr>
          <a:xfrm>
            <a:off x="216495" y="340559"/>
            <a:ext cx="5299880" cy="538082"/>
          </a:xfrm>
          <a:prstGeom prst="rect">
            <a:avLst/>
          </a:prstGeom>
          <a:solidFill>
            <a:schemeClr val="bg1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400" b="1" i="0" dirty="0">
                <a:solidFill>
                  <a:schemeClr val="tx1"/>
                </a:solidFill>
                <a:effectLst/>
                <a:latin typeface="Tekton Pro" panose="020F0603020208020904" pitchFamily="34" charset="0"/>
              </a:rPr>
              <a:t>Places with Entry Fee Greater Than 100</a:t>
            </a:r>
          </a:p>
        </p:txBody>
      </p:sp>
    </p:spTree>
    <p:extLst>
      <p:ext uri="{BB962C8B-B14F-4D97-AF65-F5344CB8AC3E}">
        <p14:creationId xmlns:p14="http://schemas.microsoft.com/office/powerpoint/2010/main" val="1073323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E63CB-241D-4618-9A8C-D7A49A360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A48007-C3E8-40E9-87EA-F2A9436B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54776-5841-4C61-A9E8-909F120AB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4335" y="855261"/>
            <a:ext cx="5182205" cy="5531891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36900" indent="0">
              <a:buNone/>
            </a:pPr>
            <a:endParaRPr lang="en-GB" sz="2200" dirty="0">
              <a:solidFill>
                <a:schemeClr val="tx1"/>
              </a:solidFill>
              <a:effectLst/>
              <a:latin typeface="Tekton Pro" panose="020F0603020208020904" pitchFamily="34" charset="0"/>
            </a:endParaRPr>
          </a:p>
          <a:p>
            <a:pPr marL="36900" indent="0">
              <a:buNone/>
            </a:pPr>
            <a:r>
              <a:rPr lang="en-IN" sz="2000" b="0" i="0" dirty="0">
                <a:solidFill>
                  <a:srgbClr val="A626A4"/>
                </a:solidFill>
                <a:effectLst/>
                <a:latin typeface="Arno Pro" panose="02020502040506020403" pitchFamily="18" charset="0"/>
              </a:rPr>
              <a:t>SELECT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Arno Pro" panose="02020502040506020403" pitchFamily="18" charset="0"/>
              </a:rPr>
              <a:t> </a:t>
            </a:r>
            <a:r>
              <a:rPr lang="en-IN" sz="2000" b="0" i="0" dirty="0" err="1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R.review_text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, </a:t>
            </a:r>
            <a:r>
              <a:rPr lang="en-IN" sz="2000" b="0" i="0" dirty="0" err="1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R.rating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, V.name</a:t>
            </a:r>
          </a:p>
          <a:p>
            <a:pPr marL="36900" indent="0">
              <a:buNone/>
            </a:pPr>
            <a:r>
              <a:rPr lang="en-IN" sz="2000" b="0" i="0" dirty="0">
                <a:solidFill>
                  <a:srgbClr val="383A42"/>
                </a:solidFill>
                <a:effectLst/>
                <a:latin typeface="Arno Pro" panose="02020502040506020403" pitchFamily="18" charset="0"/>
              </a:rPr>
              <a:t> </a:t>
            </a:r>
            <a:r>
              <a:rPr lang="en-IN" sz="2000" b="0" i="0" dirty="0">
                <a:solidFill>
                  <a:srgbClr val="A626A4"/>
                </a:solidFill>
                <a:effectLst/>
                <a:latin typeface="Arno Pro" panose="02020502040506020403" pitchFamily="18" charset="0"/>
              </a:rPr>
              <a:t>FROM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Arno Pro" panose="02020502040506020403" pitchFamily="18" charset="0"/>
              </a:rPr>
              <a:t> 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Reviews R </a:t>
            </a:r>
          </a:p>
          <a:p>
            <a:pPr marL="36900" indent="0">
              <a:buNone/>
            </a:pPr>
            <a:r>
              <a:rPr lang="en-IN" sz="2000" b="0" i="0" dirty="0">
                <a:solidFill>
                  <a:srgbClr val="A626A4"/>
                </a:solidFill>
                <a:effectLst/>
                <a:latin typeface="Arno Pro" panose="02020502040506020403" pitchFamily="18" charset="0"/>
              </a:rPr>
              <a:t>JOIN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Arno Pro" panose="02020502040506020403" pitchFamily="18" charset="0"/>
              </a:rPr>
              <a:t> 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Visitors V </a:t>
            </a:r>
            <a:r>
              <a:rPr lang="en-IN" sz="2000" b="0" i="0" dirty="0">
                <a:solidFill>
                  <a:srgbClr val="A626A4"/>
                </a:solidFill>
                <a:effectLst/>
                <a:latin typeface="Arno Pro" panose="02020502040506020403" pitchFamily="18" charset="0"/>
              </a:rPr>
              <a:t>ON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Arno Pro" panose="02020502040506020403" pitchFamily="18" charset="0"/>
              </a:rPr>
              <a:t> </a:t>
            </a:r>
            <a:r>
              <a:rPr lang="en-IN" sz="2000" b="0" i="0" dirty="0" err="1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R.visitor_id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 = </a:t>
            </a:r>
            <a:r>
              <a:rPr lang="en-IN" sz="2000" b="0" i="0" dirty="0" err="1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V.visitor_id</a:t>
            </a:r>
            <a:endParaRPr lang="en-IN" sz="2000" b="0" i="0" dirty="0">
              <a:solidFill>
                <a:schemeClr val="tx1"/>
              </a:solidFill>
              <a:effectLst/>
              <a:latin typeface="Arno Pro" panose="02020502040506020403" pitchFamily="18" charset="0"/>
            </a:endParaRPr>
          </a:p>
          <a:p>
            <a:pPr marL="36900" indent="0">
              <a:buNone/>
            </a:pPr>
            <a:r>
              <a:rPr lang="en-IN" sz="2000" b="0" i="0" dirty="0">
                <a:solidFill>
                  <a:srgbClr val="383A42"/>
                </a:solidFill>
                <a:effectLst/>
                <a:latin typeface="Arno Pro" panose="02020502040506020403" pitchFamily="18" charset="0"/>
              </a:rPr>
              <a:t> </a:t>
            </a:r>
            <a:r>
              <a:rPr lang="en-IN" sz="2000" b="0" i="0" dirty="0">
                <a:solidFill>
                  <a:srgbClr val="A626A4"/>
                </a:solidFill>
                <a:effectLst/>
                <a:latin typeface="Arno Pro" panose="02020502040506020403" pitchFamily="18" charset="0"/>
              </a:rPr>
              <a:t>WHERE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Arno Pro" panose="02020502040506020403" pitchFamily="18" charset="0"/>
              </a:rPr>
              <a:t> </a:t>
            </a:r>
            <a:r>
              <a:rPr lang="en-IN" sz="2000" b="0" i="0" dirty="0" err="1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R.place_id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 = 1 </a:t>
            </a:r>
            <a:r>
              <a:rPr lang="en-IN" sz="2000" b="0" i="0" dirty="0">
                <a:solidFill>
                  <a:srgbClr val="A626A4"/>
                </a:solidFill>
                <a:effectLst/>
                <a:latin typeface="Arno Pro" panose="02020502040506020403" pitchFamily="18" charset="0"/>
              </a:rPr>
              <a:t>ORDER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Arno Pro" panose="02020502040506020403" pitchFamily="18" charset="0"/>
              </a:rPr>
              <a:t> </a:t>
            </a:r>
            <a:r>
              <a:rPr lang="en-IN" sz="2000" b="0" i="0" dirty="0">
                <a:solidFill>
                  <a:srgbClr val="A626A4"/>
                </a:solidFill>
                <a:effectLst/>
                <a:latin typeface="Arno Pro" panose="02020502040506020403" pitchFamily="18" charset="0"/>
              </a:rPr>
              <a:t>BY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Arno Pro" panose="02020502040506020403" pitchFamily="18" charset="0"/>
              </a:rPr>
              <a:t> </a:t>
            </a:r>
            <a:r>
              <a:rPr lang="en-IN" sz="2000" b="0" i="0" dirty="0" err="1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R.rating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Arno Pro" panose="02020502040506020403" pitchFamily="18" charset="0"/>
              </a:rPr>
              <a:t> </a:t>
            </a:r>
            <a:r>
              <a:rPr lang="en-IN" sz="2000" b="0" i="0" dirty="0">
                <a:solidFill>
                  <a:srgbClr val="A626A4"/>
                </a:solidFill>
                <a:effectLst/>
                <a:latin typeface="Arno Pro" panose="02020502040506020403" pitchFamily="18" charset="0"/>
              </a:rPr>
              <a:t>DESC</a:t>
            </a:r>
            <a:r>
              <a:rPr lang="en-IN" sz="2000" b="0" i="0" dirty="0">
                <a:solidFill>
                  <a:srgbClr val="383A42"/>
                </a:solidFill>
                <a:effectLst/>
                <a:latin typeface="Arno Pro" panose="02020502040506020403" pitchFamily="18" charset="0"/>
              </a:rPr>
              <a:t>;</a:t>
            </a:r>
            <a:endParaRPr lang="en-IN" sz="2000" dirty="0">
              <a:solidFill>
                <a:schemeClr val="tx1"/>
              </a:solidFill>
              <a:latin typeface="Arno Pro" panose="020205020405060204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7820A7-9513-41F4-B6EA-CB9CA4B2A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44" y="3698542"/>
            <a:ext cx="4793986" cy="230419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8B8429B-3786-4EA7-B6EB-B86CC3B200C1}"/>
              </a:ext>
            </a:extLst>
          </p:cNvPr>
          <p:cNvSpPr txBox="1">
            <a:spLocks/>
          </p:cNvSpPr>
          <p:nvPr/>
        </p:nvSpPr>
        <p:spPr>
          <a:xfrm>
            <a:off x="257437" y="335376"/>
            <a:ext cx="4805881" cy="538082"/>
          </a:xfrm>
          <a:prstGeom prst="rect">
            <a:avLst/>
          </a:prstGeom>
          <a:solidFill>
            <a:schemeClr val="bg1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400" b="0" i="0" dirty="0">
                <a:solidFill>
                  <a:schemeClr val="tx1"/>
                </a:solidFill>
                <a:effectLst/>
                <a:latin typeface="Tekton Pro" panose="020F0603020208020904" pitchFamily="34" charset="0"/>
              </a:rPr>
              <a:t>Reviews for a Place, Ordered by Rating</a:t>
            </a:r>
          </a:p>
        </p:txBody>
      </p:sp>
    </p:spTree>
    <p:extLst>
      <p:ext uri="{BB962C8B-B14F-4D97-AF65-F5344CB8AC3E}">
        <p14:creationId xmlns:p14="http://schemas.microsoft.com/office/powerpoint/2010/main" val="366094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96EC7-23DF-4E08-BFF6-D949E693A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83101C-5AE5-4C4A-92CC-C180E2D393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112AF-0252-4091-9C68-9C56BFCF8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1372" y="873458"/>
            <a:ext cx="5182206" cy="5621006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36900" indent="0">
              <a:buNone/>
            </a:pPr>
            <a:endParaRPr lang="en-IN" sz="2000" dirty="0">
              <a:solidFill>
                <a:schemeClr val="tx1"/>
              </a:solidFill>
              <a:effectLst/>
              <a:latin typeface="Arno Pro" panose="02020502040506020403" pitchFamily="18" charset="0"/>
            </a:endParaRPr>
          </a:p>
          <a:p>
            <a:pPr marL="36900" indent="0">
              <a:buNone/>
            </a:pPr>
            <a:r>
              <a:rPr lang="en-GB" sz="2000" dirty="0">
                <a:solidFill>
                  <a:srgbClr val="7030A0"/>
                </a:solidFill>
                <a:latin typeface="Arno Pro" panose="02020502040506020403" pitchFamily="18" charset="0"/>
              </a:rPr>
              <a:t>SELECT </a:t>
            </a:r>
            <a:r>
              <a:rPr lang="en-GB" sz="2000" dirty="0" err="1">
                <a:solidFill>
                  <a:schemeClr val="tx1"/>
                </a:solidFill>
                <a:latin typeface="Arno Pro" panose="02020502040506020403" pitchFamily="18" charset="0"/>
              </a:rPr>
              <a:t>place_name</a:t>
            </a:r>
            <a:r>
              <a:rPr lang="en-GB" sz="2000" dirty="0">
                <a:solidFill>
                  <a:schemeClr val="tx1"/>
                </a:solidFill>
                <a:latin typeface="Arno Pro" panose="02020502040506020403" pitchFamily="18" charset="0"/>
              </a:rPr>
              <a:t>, AVG(rating) AS </a:t>
            </a:r>
            <a:r>
              <a:rPr lang="en-GB" sz="2000" dirty="0" err="1">
                <a:solidFill>
                  <a:schemeClr val="tx1"/>
                </a:solidFill>
                <a:latin typeface="Arno Pro" panose="02020502040506020403" pitchFamily="18" charset="0"/>
              </a:rPr>
              <a:t>avg_rating</a:t>
            </a:r>
            <a:endParaRPr lang="en-GB" sz="2000" dirty="0">
              <a:solidFill>
                <a:schemeClr val="tx1"/>
              </a:solidFill>
              <a:latin typeface="Arno Pro" panose="02020502040506020403" pitchFamily="18" charset="0"/>
            </a:endParaRPr>
          </a:p>
          <a:p>
            <a:pPr marL="36900" indent="0">
              <a:buNone/>
            </a:pPr>
            <a:r>
              <a:rPr lang="en-GB" sz="2000" dirty="0">
                <a:solidFill>
                  <a:srgbClr val="7030A0"/>
                </a:solidFill>
                <a:latin typeface="Arno Pro" panose="02020502040506020403" pitchFamily="18" charset="0"/>
              </a:rPr>
              <a:t>FROM </a:t>
            </a:r>
            <a:r>
              <a:rPr lang="en-GB" sz="2000" dirty="0" err="1">
                <a:solidFill>
                  <a:schemeClr val="tx1"/>
                </a:solidFill>
                <a:latin typeface="Arno Pro" panose="02020502040506020403" pitchFamily="18" charset="0"/>
              </a:rPr>
              <a:t>Tourist_places</a:t>
            </a:r>
            <a:endParaRPr lang="en-GB" sz="2000" dirty="0">
              <a:solidFill>
                <a:schemeClr val="tx1"/>
              </a:solidFill>
              <a:latin typeface="Arno Pro" panose="02020502040506020403" pitchFamily="18" charset="0"/>
            </a:endParaRPr>
          </a:p>
          <a:p>
            <a:pPr marL="36900" indent="0">
              <a:buNone/>
            </a:pPr>
            <a:r>
              <a:rPr lang="en-GB" sz="2000" dirty="0">
                <a:solidFill>
                  <a:srgbClr val="7030A0"/>
                </a:solidFill>
                <a:latin typeface="Arno Pro" panose="02020502040506020403" pitchFamily="18" charset="0"/>
              </a:rPr>
              <a:t>JOIN</a:t>
            </a:r>
            <a:r>
              <a:rPr lang="en-GB" sz="2000" dirty="0">
                <a:solidFill>
                  <a:schemeClr val="tx1"/>
                </a:solidFill>
                <a:latin typeface="Arno Pro" panose="02020502040506020403" pitchFamily="18" charset="0"/>
              </a:rPr>
              <a:t> Reviews R</a:t>
            </a:r>
            <a:r>
              <a:rPr lang="en-GB" sz="2000" dirty="0">
                <a:solidFill>
                  <a:srgbClr val="7030A0"/>
                </a:solidFill>
                <a:latin typeface="Arno Pro" panose="02020502040506020403" pitchFamily="18" charset="0"/>
              </a:rPr>
              <a:t> ON </a:t>
            </a:r>
            <a:r>
              <a:rPr lang="en-GB" sz="2000" dirty="0" err="1">
                <a:solidFill>
                  <a:schemeClr val="tx1"/>
                </a:solidFill>
                <a:latin typeface="Arno Pro" panose="02020502040506020403" pitchFamily="18" charset="0"/>
              </a:rPr>
              <a:t>Tourist_places.place_id</a:t>
            </a:r>
            <a:r>
              <a:rPr lang="en-GB" sz="2000" dirty="0">
                <a:solidFill>
                  <a:schemeClr val="tx1"/>
                </a:solidFill>
                <a:latin typeface="Arno Pro" panose="02020502040506020403" pitchFamily="18" charset="0"/>
              </a:rPr>
              <a:t> = </a:t>
            </a:r>
            <a:r>
              <a:rPr lang="en-GB" sz="2000" dirty="0" err="1">
                <a:solidFill>
                  <a:schemeClr val="tx1"/>
                </a:solidFill>
                <a:latin typeface="Arno Pro" panose="02020502040506020403" pitchFamily="18" charset="0"/>
              </a:rPr>
              <a:t>R.place_id</a:t>
            </a:r>
            <a:endParaRPr lang="en-GB" sz="2000" dirty="0">
              <a:solidFill>
                <a:schemeClr val="tx1"/>
              </a:solidFill>
              <a:latin typeface="Arno Pro" panose="02020502040506020403" pitchFamily="18" charset="0"/>
            </a:endParaRPr>
          </a:p>
          <a:p>
            <a:pPr marL="36900" indent="0">
              <a:buNone/>
            </a:pPr>
            <a:r>
              <a:rPr lang="en-GB" sz="2000" dirty="0">
                <a:solidFill>
                  <a:srgbClr val="7030A0"/>
                </a:solidFill>
                <a:latin typeface="Arno Pro" panose="02020502040506020403" pitchFamily="18" charset="0"/>
              </a:rPr>
              <a:t>GROUP BY </a:t>
            </a:r>
            <a:r>
              <a:rPr lang="en-GB" sz="2000" dirty="0" err="1">
                <a:solidFill>
                  <a:schemeClr val="tx1"/>
                </a:solidFill>
                <a:latin typeface="Arno Pro" panose="02020502040506020403" pitchFamily="18" charset="0"/>
              </a:rPr>
              <a:t>Tourist_places.place_id</a:t>
            </a:r>
            <a:r>
              <a:rPr lang="en-GB" sz="2000" dirty="0">
                <a:solidFill>
                  <a:schemeClr val="tx1"/>
                </a:solidFill>
                <a:latin typeface="Arno Pro" panose="02020502040506020403" pitchFamily="18" charset="0"/>
              </a:rPr>
              <a:t>;</a:t>
            </a:r>
          </a:p>
          <a:p>
            <a:endParaRPr lang="en-IN" sz="2200" dirty="0">
              <a:solidFill>
                <a:schemeClr val="tx1"/>
              </a:solidFill>
              <a:latin typeface="Tekton Pro" panose="020F06030202080209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A49309-E50D-4904-A468-DE8C8C20C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509" y="3890347"/>
            <a:ext cx="4027932" cy="220150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95123B9-C6E8-4B46-A3CC-D65D6DB5091B}"/>
              </a:ext>
            </a:extLst>
          </p:cNvPr>
          <p:cNvSpPr txBox="1">
            <a:spLocks/>
          </p:cNvSpPr>
          <p:nvPr/>
        </p:nvSpPr>
        <p:spPr>
          <a:xfrm>
            <a:off x="257437" y="335376"/>
            <a:ext cx="4915063" cy="538082"/>
          </a:xfrm>
          <a:prstGeom prst="rect">
            <a:avLst/>
          </a:prstGeom>
          <a:solidFill>
            <a:schemeClr val="bg1"/>
          </a:solidFill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400" b="0" i="0" dirty="0">
                <a:solidFill>
                  <a:schemeClr val="tx1"/>
                </a:solidFill>
                <a:effectLst/>
                <a:latin typeface="Tekton Pro" panose="020F0603020208020904" pitchFamily="34" charset="0"/>
              </a:rPr>
              <a:t>Places with Average Ratings</a:t>
            </a:r>
          </a:p>
        </p:txBody>
      </p:sp>
    </p:spTree>
    <p:extLst>
      <p:ext uri="{BB962C8B-B14F-4D97-AF65-F5344CB8AC3E}">
        <p14:creationId xmlns:p14="http://schemas.microsoft.com/office/powerpoint/2010/main" val="1777214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-9690"/>
            <a:ext cx="6104622" cy="68676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493" y="609600"/>
            <a:ext cx="4538124" cy="970450"/>
          </a:xfrm>
        </p:spPr>
        <p:txBody>
          <a:bodyPr anchor="b">
            <a:normAutofit/>
          </a:bodyPr>
          <a:lstStyle/>
          <a:p>
            <a:pPr algn="l"/>
            <a:r>
              <a:rPr lang="en-IN" sz="2800" b="1" i="0" dirty="0">
                <a:solidFill>
                  <a:schemeClr val="tx1"/>
                </a:solidFill>
                <a:effectLst/>
                <a:latin typeface="Stencil" panose="040409050D0802020404" pitchFamily="82" charset="0"/>
              </a:rPr>
              <a:t>Conclusion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3" y="2005404"/>
            <a:ext cx="4403596" cy="4058751"/>
          </a:xfrm>
        </p:spPr>
        <p:txBody>
          <a:bodyPr anchor="t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chemeClr val="tx1"/>
                </a:solidFill>
                <a:effectLst/>
                <a:latin typeface="Tekton Pro" panose="020F0603020208020904" pitchFamily="34" charset="0"/>
              </a:rPr>
              <a:t>Summary of the database structure and relationships.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chemeClr val="tx1"/>
                </a:solidFill>
                <a:effectLst/>
                <a:latin typeface="Tekton Pro" panose="020F0603020208020904" pitchFamily="34" charset="0"/>
              </a:rPr>
              <a:t>Key insights from the queries: Most popular accommodations, events, visitors' ratings, and seasonal trends.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chemeClr val="tx1"/>
                </a:solidFill>
                <a:effectLst/>
                <a:latin typeface="Tekton Pro" panose="020F0603020208020904" pitchFamily="34" charset="0"/>
              </a:rPr>
              <a:t>Suggestions for further improvements or extensions to the database.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179F6B-5806-4B51-91C2-5FDC1B78B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0ED79E-7080-435C-95EB-68F0A3AFC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065" y="2019870"/>
            <a:ext cx="6542130" cy="2265527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GB" sz="4800" dirty="0">
                <a:solidFill>
                  <a:schemeClr val="tx1"/>
                </a:solidFill>
                <a:latin typeface="Stencil" panose="040409050D0802020404" pitchFamily="82" charset="0"/>
              </a:rPr>
              <a:t>Thank You…</a:t>
            </a:r>
            <a:endParaRPr lang="en-IN" sz="4800" dirty="0">
              <a:solidFill>
                <a:schemeClr val="tx1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5166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</TotalTime>
  <Words>508</Words>
  <Application>Microsoft Office PowerPoint</Application>
  <PresentationFormat>Widescreen</PresentationFormat>
  <Paragraphs>82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Arial</vt:lpstr>
      <vt:lpstr>Arno Pro</vt:lpstr>
      <vt:lpstr>Calibri</vt:lpstr>
      <vt:lpstr>Goudy Old Style</vt:lpstr>
      <vt:lpstr>Stencil</vt:lpstr>
      <vt:lpstr>Stencil Std</vt:lpstr>
      <vt:lpstr>Tekton Pro</vt:lpstr>
      <vt:lpstr>Tekton Pro Cond</vt:lpstr>
      <vt:lpstr>ui-sans-serif</vt:lpstr>
      <vt:lpstr>Wingdings</vt:lpstr>
      <vt:lpstr>Wingdings 2</vt:lpstr>
      <vt:lpstr>SlateVTI</vt:lpstr>
      <vt:lpstr>Tourist Management System</vt:lpstr>
      <vt:lpstr> Introduction </vt:lpstr>
      <vt:lpstr>Database Structure</vt:lpstr>
      <vt:lpstr>Table Relationships</vt:lpstr>
      <vt:lpstr>E–R Diagram :-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Tourist Management System</dc:title>
  <dc:creator>Kedar Swami</dc:creator>
  <cp:lastModifiedBy>Kedar Swami</cp:lastModifiedBy>
  <cp:revision>28</cp:revision>
  <dcterms:created xsi:type="dcterms:W3CDTF">2024-12-25T08:17:16Z</dcterms:created>
  <dcterms:modified xsi:type="dcterms:W3CDTF">2024-12-31T07:04:15Z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